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061fc5d1d47d0" /><Relationship Type="http://schemas.openxmlformats.org/officeDocument/2006/relationships/extended-properties" Target="/docProps/app.xml" Id="R7897b6dd61834e77" /><Relationship Type="http://schemas.openxmlformats.org/officeDocument/2006/relationships/officeDocument" Target="/ppt/presentation.xml" Id="Rd787c7a9567e41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7922aa116456c"/>
  </p:sldMasterIdLst>
  <p:notesMasterIdLst>
    <p:notesMasterId xmlns:r="http://schemas.openxmlformats.org/officeDocument/2006/relationships" r:id="R1f04c6a6432848cd"/>
  </p:notesMasterIdLst>
  <p:sldIdLst>
    <p:sldId xmlns:r="http://schemas.openxmlformats.org/officeDocument/2006/relationships" id="256" r:id="Rb13c6430dffa418e"/>
    <p:sldId xmlns:r="http://schemas.openxmlformats.org/officeDocument/2006/relationships" id="257" r:id="R6bfd8845f4fe4b64"/>
    <p:sldId xmlns:r="http://schemas.openxmlformats.org/officeDocument/2006/relationships" id="258" r:id="R1cec6022ed75489a"/>
    <p:sldId xmlns:r="http://schemas.openxmlformats.org/officeDocument/2006/relationships" id="259" r:id="R03b84987929a499c"/>
    <p:sldId xmlns:r="http://schemas.openxmlformats.org/officeDocument/2006/relationships" id="260" r:id="Ra0fe3115680e40b9"/>
    <p:sldId xmlns:r="http://schemas.openxmlformats.org/officeDocument/2006/relationships" id="261" r:id="R09e8088b766c4242"/>
    <p:sldId xmlns:r="http://schemas.openxmlformats.org/officeDocument/2006/relationships" id="262" r:id="R5caa4b17daf3491a"/>
    <p:sldId xmlns:r="http://schemas.openxmlformats.org/officeDocument/2006/relationships" id="263" r:id="Rbbc56eadc9d1496e"/>
    <p:sldId xmlns:r="http://schemas.openxmlformats.org/officeDocument/2006/relationships" id="264" r:id="Rb5c523d773a94149"/>
    <p:sldId xmlns:r="http://schemas.openxmlformats.org/officeDocument/2006/relationships" id="265" r:id="Rf6359eb508ba4483"/>
    <p:sldId xmlns:r="http://schemas.openxmlformats.org/officeDocument/2006/relationships" id="266" r:id="Rb8f0dcd50f69439b"/>
    <p:sldId xmlns:r="http://schemas.openxmlformats.org/officeDocument/2006/relationships" id="267" r:id="R3face233e1dd45b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3584e531084abf" /><Relationship Type="http://schemas.openxmlformats.org/officeDocument/2006/relationships/slideMaster" Target="/ppt/slideMasters/slideMaster1.xml" Id="Rf557922aa116456c" /><Relationship Type="http://schemas.openxmlformats.org/officeDocument/2006/relationships/notesMaster" Target="/ppt/notesMasters/notesMaster1.xml" Id="R1f04c6a6432848cd" /><Relationship Type="http://schemas.openxmlformats.org/officeDocument/2006/relationships/presProps" Target="/ppt/presProps.xml" Id="R0f3da5583a3c449d" /><Relationship Type="http://schemas.openxmlformats.org/officeDocument/2006/relationships/tableStyles" Target="/ppt/tableStyles.xml" Id="R05af69cf5f9a4b5f" /><Relationship Type="http://schemas.openxmlformats.org/officeDocument/2006/relationships/slide" Target="/ppt/slides/slide1.xml" Id="Rb13c6430dffa418e" /><Relationship Type="http://schemas.openxmlformats.org/officeDocument/2006/relationships/slide" Target="/ppt/slides/slide2.xml" Id="R6bfd8845f4fe4b64" /><Relationship Type="http://schemas.openxmlformats.org/officeDocument/2006/relationships/slide" Target="/ppt/slides/slide3.xml" Id="R1cec6022ed75489a" /><Relationship Type="http://schemas.openxmlformats.org/officeDocument/2006/relationships/slide" Target="/ppt/slides/slide4.xml" Id="R03b84987929a499c" /><Relationship Type="http://schemas.openxmlformats.org/officeDocument/2006/relationships/slide" Target="/ppt/slides/slide5.xml" Id="Ra0fe3115680e40b9" /><Relationship Type="http://schemas.openxmlformats.org/officeDocument/2006/relationships/slide" Target="/ppt/slides/slide6.xml" Id="R09e8088b766c4242" /><Relationship Type="http://schemas.openxmlformats.org/officeDocument/2006/relationships/slide" Target="/ppt/slides/slide7.xml" Id="R5caa4b17daf3491a" /><Relationship Type="http://schemas.openxmlformats.org/officeDocument/2006/relationships/slide" Target="/ppt/slides/slide8.xml" Id="Rbbc56eadc9d1496e" /><Relationship Type="http://schemas.openxmlformats.org/officeDocument/2006/relationships/slide" Target="/ppt/slides/slide9.xml" Id="Rb5c523d773a94149" /><Relationship Type="http://schemas.openxmlformats.org/officeDocument/2006/relationships/slide" Target="/ppt/slides/slide10.xml" Id="Rf6359eb508ba4483" /><Relationship Type="http://schemas.openxmlformats.org/officeDocument/2006/relationships/slide" Target="/ppt/slides/slide11.xml" Id="Rb8f0dcd50f69439b" /><Relationship Type="http://schemas.openxmlformats.org/officeDocument/2006/relationships/slide" Target="/ppt/slides/slide12.xml" Id="R3face233e1dd45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c900dac501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fc7d9626314b52" /><Relationship Type="http://schemas.openxmlformats.org/officeDocument/2006/relationships/notesMaster" Target="/ppt/notesMasters/notesMaster1.xml" Id="Rfc7db1fd6227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ec3465e5fb48f1" /><Relationship Type="http://schemas.openxmlformats.org/officeDocument/2006/relationships/notesMaster" Target="/ppt/notesMasters/notesMaster1.xml" Id="Rfab14307581542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d9efca3ad418f" /><Relationship Type="http://schemas.openxmlformats.org/officeDocument/2006/relationships/notesMaster" Target="/ppt/notesMasters/notesMaster1.xml" Id="R96018d649da642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d79540ad54a82" /><Relationship Type="http://schemas.openxmlformats.org/officeDocument/2006/relationships/notesMaster" Target="/ppt/notesMasters/notesMaster1.xml" Id="Raf77a09e3ffb42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95235094244df9" /><Relationship Type="http://schemas.openxmlformats.org/officeDocument/2006/relationships/notesMaster" Target="/ppt/notesMasters/notesMaster1.xml" Id="R79267c2351ca42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ae7553feac4041" /><Relationship Type="http://schemas.openxmlformats.org/officeDocument/2006/relationships/notesMaster" Target="/ppt/notesMasters/notesMaster1.xml" Id="Rd089cc16282a47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667b0c1aa4d0a" /><Relationship Type="http://schemas.openxmlformats.org/officeDocument/2006/relationships/notesMaster" Target="/ppt/notesMasters/notesMaster1.xml" Id="Rf26c6e45cf7c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4798ac07424c95" /><Relationship Type="http://schemas.openxmlformats.org/officeDocument/2006/relationships/notesMaster" Target="/ppt/notesMasters/notesMaster1.xml" Id="Reee7b64a40e745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3d1b4eef841ba" /><Relationship Type="http://schemas.openxmlformats.org/officeDocument/2006/relationships/notesMaster" Target="/ppt/notesMasters/notesMaster1.xml" Id="R9a8659092c5d42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44e5b9e914478c" /><Relationship Type="http://schemas.openxmlformats.org/officeDocument/2006/relationships/notesMaster" Target="/ppt/notesMasters/notesMaster1.xml" Id="Rab6ca55d9c1d4f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51eae65b647ec" /><Relationship Type="http://schemas.openxmlformats.org/officeDocument/2006/relationships/notesMaster" Target="/ppt/notesMasters/notesMaster1.xml" Id="R893022f43e3940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c0817f6e93349cd" /><Relationship Type="http://schemas.openxmlformats.org/officeDocument/2006/relationships/notesMaster" Target="/ppt/notesMasters/notesMaster1.xml" Id="Rb77566bbceec4d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0:00–0:55</a:t>
            </a:r>
          </a:p>
          <a:p xmlns:a="http://schemas.openxmlformats.org/drawingml/2006/main">
            <a:r>
              <a:t>เปิดด้วยปัญหา: นักศึกษาต้องสลับหลายช่องทางเมื่อจะเดินทาง หาอาคาร ดูรถ หรือคุยเรื่องสถานที่</a:t>
            </a:r>
          </a:p>
          <a:p xmlns:a="http://schemas.openxmlformats.org/drawingml/2006/main">
            <a:r>
              <a:t>โปรเจกต์นี้รวม flow หลักไว้ใน prototype เดียว และวันนี้จะพิสูจน์ตาม rubric ทั้ง 4 ข้อ</a:t>
            </a:r>
          </a:p>
          <a:p xmlns:a="http://schemas.openxmlformats.org/drawingml/2006/main">
            <a:r>
              <a:t>ยังไม่ลงรายละเอียดทุกหน้า—จะเน้นหลักฐานที่อาจารย์ตรวจได้เร็ว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0:55–1:55</a:t>
            </a:r>
          </a:p>
          <a:p xmlns:a="http://schemas.openxmlformats.org/drawingml/2006/main">
            <a:r>
              <a:t>ไล่ flow จากซ้ายไปขวา ไม่ต้องอธิบายทุก feature</a:t>
            </a:r>
          </a:p>
          <a:p xmlns:a="http://schemas.openxmlformats.org/drawingml/2006/main">
            <a:r>
              <a:t>จุดสำคัญคือ navigation และ state ถูกออกแบบให้ผู้ใช้รู้ว่าตัวเองอยู่ที่ไหน</a:t>
            </a:r>
          </a:p>
          <a:p xmlns:a="http://schemas.openxmlformats.org/drawingml/2006/main">
            <a:r>
              <a:t>Indoor เป็น continuation จาก Map ส่วน Shuttle และ Community เป็นงานที่กลับมาใช้ซ้ำระหว่างวัน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1:55–3:10</a:t>
            </a:r>
          </a:p>
          <a:p xmlns:a="http://schemas.openxmlformats.org/drawingml/2006/main">
            <a:r>
              <a:t>ชี้ภาพจาก Login → Map → Community เพื่อให้เห็น visual language เดียวกัน</a:t>
            </a:r>
          </a:p>
          <a:p xmlns:a="http://schemas.openxmlformats.org/drawingml/2006/main">
            <a:r>
              <a:t>UI completeness ไม่ได้หมายถึงแค่มี widget ครบ แต่รวม typography, spacing, color และ feedback</a:t>
            </a:r>
          </a:p>
          <a:p xmlns:a="http://schemas.openxmlformats.org/drawingml/2006/main">
            <a:r>
              <a:t>หลักฐาน overflow จะยืนยันอีกครั้งในสไลด์ Verification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3:10–4:25</a:t>
            </a:r>
          </a:p>
          <a:p xmlns:a="http://schemas.openxmlformats.org/drawingml/2006/main">
            <a:r>
              <a:t>อธิบายว่าการ responsive เริ่มจากโครงสร้าง ไม่ใช่การใส่ if ตามรุ่นมือถือ</a:t>
            </a:r>
          </a:p>
          <a:p xmlns:a="http://schemas.openxmlformats.org/drawingml/2006/main">
            <a:r>
              <a:t>ยกตัวอย่าง LayoutBuilder, Flexible, ListView และ constraints</a:t>
            </a:r>
          </a:p>
          <a:p xmlns:a="http://schemas.openxmlformats.org/drawingml/2006/main">
            <a:r>
              <a:t>เน้นว่าชุดทดสอบครอบคลุมมือถือเล็ก มือถือใหญ่ แท็บเล็ตแนวตั้ง และจอกว้าง พร้อม text scale 1.5 เท่า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4:25–5:45</a:t>
            </a:r>
          </a:p>
          <a:p xmlns:a="http://schemas.openxmlformats.org/drawingml/2006/main">
            <a:r>
              <a:t>อ่าน diagram จาก Page ไป Model</a:t>
            </a:r>
          </a:p>
          <a:p xmlns:a="http://schemas.openxmlformats.org/drawingml/2006/main">
            <a:r>
              <a:t>ประโยชน์คือแต่ละชั้นมีเหตุผลเดียวในการเปลี่ยน ทำให้ test และแก้ไขง่าย</a:t>
            </a:r>
          </a:p>
          <a:p xmlns:a="http://schemas.openxmlformats.org/drawingml/2006/main">
            <a:r>
              <a:t>การ rename screens เป็น pages ทำให้ convention สอดคล้องกับ Flutter app structure</a:t>
            </a:r>
          </a:p>
          <a:p xmlns:a="http://schemas.openxmlformats.org/drawingml/2006/main">
            <a:r>
              <a:t>จุดสำคัญใน Community คือเก็บ selectedPlaceId แทน index เพื่อไม่เลือกผิดรายการหลัง sort/filter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5:45–7:05</a:t>
            </a:r>
          </a:p>
          <a:p xmlns:a="http://schemas.openxmlformats.org/drawingml/2006/main">
            <a:r>
              <a:t>ชี้จาก Loading → Success → Error</a:t>
            </a:r>
          </a:p>
          <a:p xmlns:a="http://schemas.openxmlformats.org/drawingml/2006/main">
            <a:r>
              <a:t>Loading ไม่ปล่อยหน้าว่าง: มี indicator และกันการกดซ้ำในงาน post</a:t>
            </a:r>
          </a:p>
          <a:p xmlns:a="http://schemas.openxmlformats.org/drawingml/2006/main">
            <a:r>
              <a:t>Success และ Error มี feedback ที่ถูกจังหวะ โดย side effect อยู่ใน listener จึงไม่เด้งซ้ำจาก rebuild</a:t>
            </a:r>
          </a:p>
          <a:p xmlns:a="http://schemas.openxmlformats.org/drawingml/2006/main">
            <a:r>
              <a:t>ErrorState ใช้ซ้ำใน Events และ Shuttle พร้อมปุ่ม Retry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7:05–8:35</a:t>
            </a:r>
          </a:p>
          <a:p xmlns:a="http://schemas.openxmlformats.org/drawingml/2006/main">
            <a:r>
              <a:t>สไลด์นี้เป็น case study ที่เชื่อม rubric ทั้งหมด</a:t>
            </a:r>
          </a:p>
          <a:p xmlns:a="http://schemas.openxmlformats.org/drawingml/2006/main">
            <a:r>
              <a:t>ซ้ายคือ list ที่ค้นหาและเรียงได้ ขวาคือ detail และ composer</a:t>
            </a:r>
          </a:p>
          <a:p xmlns:a="http://schemas.openxmlformats.org/drawingml/2006/main">
            <a:r>
              <a:t>อธิบาย bug class สำคัญ: ถ้าเก็บ index แล้ว sort รายการ อาจเปิดสถานที่ผิด จึงเปลี่ยนเป็น selectedPlaceId</a:t>
            </a:r>
          </a:p>
          <a:p xmlns:a="http://schemas.openxmlformats.org/drawingml/2006/main">
            <a:r>
              <a:t>ตอนโพสต์มี posting state กัน double-submit และมี error feedback โดย draft ยังอยู่ให้แก้แล้ว retry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8:35–9:40</a:t>
            </a:r>
          </a:p>
          <a:p xmlns:a="http://schemas.openxmlformats.org/drawingml/2006/main">
            <a:r>
              <a:t>นี่คือผลรันล่าสุด ไม่ใช่ตัวเลขจากครั้งก่อน</a:t>
            </a:r>
          </a:p>
          <a:p xmlns:a="http://schemas.openxmlformats.org/drawingml/2006/main">
            <a:r>
              <a:t>20 tests ครอบคลุม Bloc, error/retry, auth, page rendering, naming และ responsive</a:t>
            </a:r>
          </a:p>
          <a:p xmlns:a="http://schemas.openxmlformats.org/drawingml/2006/main">
            <a:r>
              <a:t>Analyzer เป็นศูนย์ issue</a:t>
            </a:r>
          </a:p>
          <a:p xmlns:a="http://schemas.openxmlformats.org/drawingml/2006/main">
            <a:r>
              <a:t>Responsive test มี 4 viewport และใช้ text scale 1.5 เพื่อจับ overflow ที่มักไม่เจอบนเครื่องผู้พัฒนา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เวลา 9:40–12:00 สำหรับสไลด์และ transition จากนั้น Demo 3:00</a:t>
            </a:r>
          </a:p>
          <a:p xmlns:a="http://schemas.openxmlformats.org/drawingml/2006/main">
            <a:r>
              <a:t>ก่อนสลับไปแอป บอกเส้นทาง demo ให้ผู้ฟังรู้ว่าจะดูอะไร</a:t>
            </a:r>
          </a:p>
          <a:p xmlns:a="http://schemas.openxmlformats.org/drawingml/2006/main">
            <a:r>
              <a:t>ทำตามลำดับ: Login → Map → เข้าอาคาร → Shuttle → Community → Post → Resize</a:t>
            </a:r>
          </a:p>
          <a:p xmlns:a="http://schemas.openxmlformats.org/drawingml/2006/main">
            <a:r>
              <a:t>ถ้าเวลาเหลือน้อย ให้ข้ามการ post แล้ว resize ทันที</a:t>
            </a:r>
          </a:p>
          <a:p xmlns:a="http://schemas.openxmlformats.org/drawingml/2006/main">
            <a:r>
              <a:t>จบ demo ด้วยผล 20/20 และ 0 analyzer issues ไม่ต้องกลับมาสไลด์ Thank you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ภาคผนวก 1 · เวลา 12:00–12:35</a:t>
            </a:r>
          </a:p>
          <a:p xmlns:a="http://schemas.openxmlformats.org/drawingml/2006/main">
            <a:r>
              <a:t>เปิด IDE ที่โฟลเดอร์ psu_nav/lib ให้เห็นโครงสร้างเดียวกับในสไลด์</a:t>
            </a:r>
          </a:p>
          <a:p xmlns:a="http://schemas.openxmlformats.org/drawingml/2006/main">
            <a:r>
              <a:t>ชี้ว่าแต่ละ Page ไม่ได้รวมทุกอย่างไว้ใน build เดียว และ common widgets ถูกใช้ซ้ำ</a:t>
            </a:r>
          </a:p>
          <a:p xmlns:a="http://schemas.openxmlformats.org/drawingml/2006/main">
            <a:r>
              <a:t>ชื่อ screens ถูกเปลี่ยนเป็น pages แล้ว มี architecture test กันชื่อเก่าหลงเหลือ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ภาคผนวก 2 · เวลา 12:35–13:20</a:t>
            </a:r>
          </a:p>
          <a:p xmlns:a="http://schemas.openxmlformats.org/drawingml/2006/main">
            <a:r>
              <a:t>ฝั่งซ้ายคือเหตุผลที่เลือกด้วย id ไม่ใช่ index: sort แล้วสถานที่เดิมยังถูกต้อง</a:t>
            </a:r>
          </a:p>
          <a:p xmlns:a="http://schemas.openxmlformats.org/drawingml/2006/main">
            <a:r>
              <a:t>ฝั่งขวาคือ state-driven post flow: กันกดซ้ำ, แสดง success และคืน error ที่เป็นมิตร</a:t>
            </a:r>
          </a:p>
          <a:p xmlns:a="http://schemas.openxmlformats.org/drawingml/2006/main">
            <a:r>
              <a:t>ถ้าอาจารย์ถามว่า UX อยู่ตรงไหน ให้ชี้ผลลัพธ์สามบรรทัดด้านล่าง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ภาคผนวก 3 · เวลา 13:20–14:00</a:t>
            </a:r>
          </a:p>
          <a:p xmlns:a="http://schemas.openxmlformats.org/drawingml/2006/main">
            <a:r>
              <a:t>เปิด terminal หรือ IDE แล้วรันสองคำสั่งนี้ให้ดูได้</a:t>
            </a:r>
          </a:p>
          <a:p xmlns:a="http://schemas.openxmlformats.org/drawingml/2006/main">
            <a:r>
              <a:t>ชี้ชื่อ test ที่ตรงกับ rubric โดยตรง: naming, Bloc state, retry และ responsive</a:t>
            </a:r>
          </a:p>
          <a:p xmlns:a="http://schemas.openxmlformats.org/drawingml/2006/main">
            <a:r>
              <a:t>หน้านี้เป็นหลักฐานสำรอง หากอาจารย์ต้องการตรวจไฟล์แทนการดู demo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204cc8ce6941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ea3488595c4808" /><Relationship Type="http://schemas.openxmlformats.org/officeDocument/2006/relationships/slideLayout" Target="/ppt/slideLayouts/slideLayout1.xml" Id="R22f3bdb14572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f3bdb14572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cdeb8f994256" /><Relationship Type="http://schemas.openxmlformats.org/officeDocument/2006/relationships/image" Target="/ppt/media/image.png" Id="Rb7cd3fcb09f14e30" /><Relationship Type="http://schemas.openxmlformats.org/officeDocument/2006/relationships/image" Target="/ppt/media/image2.png" Id="Rd6e0ba20124e4ad2" /><Relationship Type="http://schemas.openxmlformats.org/officeDocument/2006/relationships/notesSlide" Target="/ppt/notesSlides/notesSlide1.xml" Id="R4c242f6e63fa48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146308cc54728" /><Relationship Type="http://schemas.openxmlformats.org/officeDocument/2006/relationships/notesSlide" Target="/ppt/notesSlides/notesSlide2.xml" Id="Rfc0ecff9b05c44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a631c6e234582" /><Relationship Type="http://schemas.openxmlformats.org/officeDocument/2006/relationships/image" Target="/ppt/media/image3.png" Id="R69a8fb3f9b654f2b" /><Relationship Type="http://schemas.openxmlformats.org/officeDocument/2006/relationships/image" Target="/ppt/media/image4.png" Id="Rb82feeebeece4779" /><Relationship Type="http://schemas.openxmlformats.org/officeDocument/2006/relationships/image" Target="/ppt/media/image5.png" Id="Red3937c6aa784280" /><Relationship Type="http://schemas.openxmlformats.org/officeDocument/2006/relationships/notesSlide" Target="/ppt/notesSlides/notesSlide3.xml" Id="R2304a799c9374b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51c3fe9e34fb0" /><Relationship Type="http://schemas.openxmlformats.org/officeDocument/2006/relationships/notesSlide" Target="/ppt/notesSlides/notesSlide4.xml" Id="Rf9aad5bcdce64a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7aff15d8a4a76" /><Relationship Type="http://schemas.openxmlformats.org/officeDocument/2006/relationships/notesSlide" Target="/ppt/notesSlides/notesSlide5.xml" Id="R59b4e94661464c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a4500e16b49df" /><Relationship Type="http://schemas.openxmlformats.org/officeDocument/2006/relationships/image" Target="/ppt/media/image6.png" Id="R8e877f9b2ad24cf5" /><Relationship Type="http://schemas.openxmlformats.org/officeDocument/2006/relationships/notesSlide" Target="/ppt/notesSlides/notesSlide6.xml" Id="Rb2a1eeb4372e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12ef95a7a4343" /><Relationship Type="http://schemas.openxmlformats.org/officeDocument/2006/relationships/image" Target="/ppt/media/image7.png" Id="R868c5404882d4f80" /><Relationship Type="http://schemas.openxmlformats.org/officeDocument/2006/relationships/image" Target="/ppt/media/image8.png" Id="R3e685b0b4cea4157" /><Relationship Type="http://schemas.openxmlformats.org/officeDocument/2006/relationships/notesSlide" Target="/ppt/notesSlides/notesSlide7.xml" Id="R12aa04b4995d47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d433d9adb402a" /><Relationship Type="http://schemas.openxmlformats.org/officeDocument/2006/relationships/notesSlide" Target="/ppt/notesSlides/notesSlide8.xml" Id="R281d5aa1f20647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042ed84584ab7" /><Relationship Type="http://schemas.openxmlformats.org/officeDocument/2006/relationships/notesSlide" Target="/ppt/notesSlides/notesSlide9.xml" Id="Rb3cc7b319f324d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b6a2b4d2c498e" /><Relationship Type="http://schemas.openxmlformats.org/officeDocument/2006/relationships/notesSlide" Target="/ppt/notesSlides/notesSlide10.xml" Id="R7a023b9177b749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3a3199e2d4877" /><Relationship Type="http://schemas.openxmlformats.org/officeDocument/2006/relationships/notesSlide" Target="/ppt/notesSlides/notesSlide11.xml" Id="Ra942f7100f294c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39f27114fe4f09" /><Relationship Type="http://schemas.openxmlformats.org/officeDocument/2006/relationships/notesSlide" Target="/ppt/notesSlides/notesSlide12.xml" Id="R4aaf4c295b3f4f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B643A-9031-487E-BAE7-9AB765E7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946A-F825-4C6A-8B19-6E9B9FFE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2631-17D2-4C11-9BF0-9E323171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477DE-2218-40E5-9415-E629C351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FRONTEND PROTOTYPE · 16 คะแนน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F0FB6-D6FB-4F92-B84E-6EBFB1AC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96D06-B8B7-4FDB-A8D2-568ABDD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715000" cy="1733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PSU Campus
Navigator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9E5E9-3FB4-42AB-AB3D-D4229FB2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5143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หนึ่ง flow สำหรับแผนที่ใน–นอกอาคาร รถรับส่ง กิจกรรม และชุมชนในมหาวิทยาลัย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68524-AB90-4FBD-9C7A-5F925070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4762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91AD9-65D6-4796-914E-1DBC7D2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เป้าหมายการนำเสนอ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144FB-12C8-4460-92B1-DCC93A0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พิสูจน์ครบทั้ง UI · Layout · Code · 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41924-7F82-4EB3-B2D1-24D04CFF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04850"/>
            <a:ext cx="4762500" cy="5524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0F7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d3fcb09f14e30"/>
          <a:stretch xmlns:a="http://schemas.openxmlformats.org/drawingml/2006/main"/>
        </p:blipFill>
        <p:spPr>
          <a:xfrm xmlns:a="http://schemas.openxmlformats.org/drawingml/2006/main">
            <a:off x="6743700" y="1179048"/>
            <a:ext cx="2114550" cy="4576103"/>
          </a:xfrm>
          <a:prstGeom xmlns:a="http://schemas.openxmlformats.org/drawingml/2006/main" prst="round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0ba20124e4ad2"/>
          <a:stretch xmlns:a="http://schemas.openxmlformats.org/drawingml/2006/main"/>
        </p:blipFill>
        <p:spPr>
          <a:xfrm xmlns:a="http://schemas.openxmlformats.org/drawingml/2006/main">
            <a:off x="9010650" y="1179048"/>
            <a:ext cx="2114550" cy="4576103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65035057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E6F34-03FA-4B41-AA4C-296F49B9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F1B96-FE3B-45DD-B235-DAF93532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2178F-B470-4E8E-8053-118A8CB6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8118F-7D22-41CF-A592-EC8543FB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PRODUCT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13CC0-6E13-47C8-9D95-6774286A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0E0CA-2EF6-4F75-AC30-27BFAC24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หนึ่ง flow เชื่อมงานหลักใน campus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BBEAF-8AC4-43FD-B59D-293141A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ผู้ใช้เข้าสู่ระบบครั้งเดียว แล้วเปลี่ยนบริบทได้จาก navigation เดียว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952500" y="3171825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6A6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1FC06-AD4B-44C7-8C13-E615E1FC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E2264-BEBD-420D-B4CC-C05F0F10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67025"/>
            <a:ext cx="59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19746-4E07-4619-93B9-69C6F135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5758FC-A184-4638-A04A-9B13DA4C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ยืนยันตัวตน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122EC-3CDE-4316-8D11-09793187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C8564-41CC-4F7C-815B-4BA2DD8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67025"/>
            <a:ext cx="59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FA8269-12F3-4231-9056-924C2D98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338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9B5D7-AE39-471B-9D22-5BAB9EE2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ค้นหา–นำทาง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73774-811D-4F3C-A5C3-91D2BFFB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2EF0A-418D-40B3-AB12-D568109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67025"/>
            <a:ext cx="59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ECC7A0-72BC-4366-92AF-C86ECC78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7338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Indoor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379B9-1B70-4B6B-ABDF-5141B6E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957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เลือกชั้น–ห้อง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37B96-3BAC-42B5-A2B7-1340121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C2E168-8DA7-487F-9976-4841AF4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67025"/>
            <a:ext cx="59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B9EE8-8A08-459E-B3EA-458C40D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338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Shuttle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29CF93-12B6-4E6A-BD03-3CBFB833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957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เส้นทาง–แจ้งเตือน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7B235-8682-4438-9FF4-80908719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57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884466-E6C2-4772-A35E-B68D7020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67025"/>
            <a:ext cx="5905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B32D3-E42C-4B4E-B005-238490F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33800"/>
            <a:ext cx="1638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Community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1FC685-116F-48E8-83FB-DE77C00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095750"/>
            <a:ext cx="1638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รีวิว–สนทนา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22B89F-3868-468D-8640-BEA7D4EE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33950"/>
            <a:ext cx="1057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823FBA-5C50-4C03-B22B-CF9512C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53025"/>
            <a:ext cx="95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ผลลัพธ์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E49F29-0EE8-431B-A2FA-F6A9B17B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ลดการเดา → เห็นสถานะปัจจุบัน → ทำงานต่อได้ทันที</a:t>
            </a:r>
          </a:p>
        </p:txBody>
      </p:sp>
    </p:spTree>
    <p:extLst>
      <p:ext uri="{BB962C8B-B14F-4D97-AF65-F5344CB8AC3E}">
        <p14:creationId xmlns:p14="http://schemas.microsoft.com/office/powerpoint/2010/main" val="20532774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274347-FB73-426F-8B4A-D0A4E542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AE9A6-8330-464B-ACCE-5AECB4BC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1A51D-DC6D-4DF4-A2B1-278BD804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B48BF-01D2-46F2-95CC-AFC4AB9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RUBRIC 1 · UI COMPLETENESS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1DEE7-95D4-4250-81BD-F91C5673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97BA0-A37A-4524-947E-769804A1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UI ครบ สม่ำเสมอ และไม่มี overflow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38AD8-848E-4063-96D3-AF0777E0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ธีม PSU เดียวกันตั้งแต่ Login ถึงหน้ารายละเอียด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8fb3f9b654f2b"/>
          <a:stretch xmlns:a="http://schemas.openxmlformats.org/drawingml/2006/main"/>
        </p:blipFill>
        <p:spPr>
          <a:xfrm xmlns:a="http://schemas.openxmlformats.org/drawingml/2006/main">
            <a:off x="670328" y="1733550"/>
            <a:ext cx="2002620" cy="4333875"/>
          </a:xfrm>
          <a:prstGeom xmlns:a="http://schemas.openxmlformats.org/drawingml/2006/main" prst="round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feeebeece4779"/>
          <a:stretch xmlns:a="http://schemas.openxmlformats.org/drawingml/2006/main"/>
        </p:blipFill>
        <p:spPr>
          <a:xfrm xmlns:a="http://schemas.openxmlformats.org/drawingml/2006/main">
            <a:off x="3261128" y="1733550"/>
            <a:ext cx="2002620" cy="4333875"/>
          </a:xfrm>
          <a:prstGeom xmlns:a="http://schemas.openxmlformats.org/drawingml/2006/main" prst="round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937c6aa784280"/>
          <a:stretch xmlns:a="http://schemas.openxmlformats.org/drawingml/2006/main"/>
        </p:blipFill>
        <p:spPr>
          <a:xfrm xmlns:a="http://schemas.openxmlformats.org/drawingml/2006/main">
            <a:off x="5851928" y="1733550"/>
            <a:ext cx="2002620" cy="4333875"/>
          </a:xfrm>
          <a:prstGeom xmlns:a="http://schemas.openxmlformats.org/drawingml/2006/main" prst="round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4D11B-2360-4EF7-A489-7D68F5E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90700"/>
            <a:ext cx="3276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8EDA4-D523-49E9-AF7E-E1F2A9A5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714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Design system ที่ใช้จริง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B71A6-5101-40B5-8FBF-E1D05ADA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82B57-88BC-4FBA-B52E-3AB5525E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9375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01BB02-7D15-4B53-B6F2-E1A27E30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76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สี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D7C1F-9339-4CEE-822E-98E9FEAE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PSU blue + neutral surfaces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3C0FC-B5C5-428A-AAB1-A7AF8009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21533-171A-4D66-AAA1-77C6F8A8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8B2A1-A5AA-4A5F-800B-CBEDDFED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76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ตัวอักษร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87170-E540-4F59-8845-573B227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6230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ลำดับชั้นอ่านชัด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06EBE-EC75-4707-97BA-46690146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82F7A-BDCA-4B8B-91F0-E74288DF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24275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CFA33-95F6-4762-BF6C-EC4EF7A0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76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Spacing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DFC3A7-FEAB-4DE5-A2B7-BA0E2A95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1475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8pt rhythm + card grid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22929C-4CFB-4433-A67B-33B5648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913A67-3C67-42B4-B15D-4C3747FE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266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A9A6F8-1946-4A45-B94B-DE60F132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67200"/>
            <a:ext cx="762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Feedback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61AC07-D367-4728-B325-2E70D708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267200"/>
            <a:ext cx="157162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badge · status · snack bar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C3841-172D-4769-AD88-51CF9D5F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38750"/>
            <a:ext cx="32766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DBA59F-0633-475D-A1F0-20024393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400675"/>
            <a:ext cx="2762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ตรวจหลาย viewport แล้ว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703282-C1F5-4407-9525-E39DD990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29275"/>
            <a:ext cx="2762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ไม่พบ Yellow/Black overflow</a:t>
            </a:r>
          </a:p>
        </p:txBody>
      </p:sp>
    </p:spTree>
    <p:extLst>
      <p:ext uri="{BB962C8B-B14F-4D97-AF65-F5344CB8AC3E}">
        <p14:creationId xmlns:p14="http://schemas.microsoft.com/office/powerpoint/2010/main" val="90402017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393D8-215C-4A48-9D3C-CE9758A6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E2C9C-42D8-4340-BEA6-F150C798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9DE53-A43F-4CAE-9E9B-12505AE1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9320F-3D56-44B8-8566-8361504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RUBRIC 2 · LAYOUT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04E41-1226-4B5E-B1B7-E5B318B2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385D0-FE73-4F9E-ACEE-AE23B424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Responsive by construction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F4163-8209-4465-8D20-769FADBA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เลย์เอาต์ยืดตามพื้นที่และ text scale ไม่ผูกกับมือถือรุ่นเดียว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38A3D-5630-4E87-9B4B-99FCCE2F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33030-9F15-43C3-BF98-68B9D716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LayoutBuilder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E6CAA-61CA-4C0E-8D18-20AA7964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905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ตัดสินใจจากพื้นที่จริง
ของ 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07200-C426-4A94-B32B-6F338F68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96215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BB078-5D13-45C3-BF16-B7CC4C31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Flexible / Expanded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61774-6AC2-40DC-B14B-0FD8CE17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905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แบ่งพื้นที่โดยไม่ fix
ความกว้างทั้งแถว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80DD8-7ADE-4023-A1E8-6FE0FDC5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974B7-59D8-4B04-825F-D2CA64CE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ListView / Scroll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9D1E3-5A3E-4E84-9D8A-0945619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2905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ข้อมูลยาวยังเข้าถึงได้
ทุกหน้าจอ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6B3D0-BB0A-4DEA-A9B2-9856D4B1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71900"/>
            <a:ext cx="3429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3978A4-649F-4DEC-8F7A-F4BA1AFB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2905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FF221-C3CF-4F60-9BE2-EBAF412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290512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จำกัด maxHeight / width
เฉพาะจุดจำเป็น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BEBFB-3755-4F80-A89A-FAF616D1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62150"/>
            <a:ext cx="356235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6ABA3-F798-4915-A99C-EB0D8C8E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38375"/>
            <a:ext cx="2952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ทดสอบอัตโนมัติ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553F9-88B6-4247-B656-384DD1D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6CC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218F7-4F60-40E9-83A0-936C4DF1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9875"/>
            <a:ext cx="2000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360 × 640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0E70D9-7EE8-409E-B31C-0E9C618D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194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F2B5"/>
                </a:solidFill>
                <a:latin typeface="Leelawadee UI"/>
                <a:ea typeface="Leelawadee UI"/>
                <a:cs typeface="Leelawadee UI"/>
              </a:defRPr>
            </a:pPr>
            <a:r>
              <a:t>PASS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A7314-B835-47EC-BFE8-FBF37E8D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A7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DC2BF4-D468-4F3A-BCF7-886CA1E1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24225"/>
            <a:ext cx="2000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412 × 915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A9B9EE-BBA8-4D2D-BF87-1072049E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337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F2B5"/>
                </a:solidFill>
                <a:latin typeface="Leelawadee UI"/>
                <a:ea typeface="Leelawadee UI"/>
                <a:cs typeface="Leelawadee UI"/>
              </a:defRPr>
            </a:pPr>
            <a: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C6660B-39EB-4346-B78C-47A8D55E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7190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A70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C15FA-FC05-4BF6-AA24-0A1F38BE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38575"/>
            <a:ext cx="2000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800 × 1280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2C13D-1B98-4771-AE17-9F579315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481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F2B5"/>
                </a:solidFill>
                <a:latin typeface="Leelawadee UI"/>
                <a:ea typeface="Leelawadee UI"/>
                <a:cs typeface="Leelawadee UI"/>
              </a:defRPr>
            </a:pPr>
            <a: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DF9A5-7FDC-4303-A50E-5E71B6CD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571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A70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DCF5A2-FA89-48DC-A3D6-36820B6E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52925"/>
            <a:ext cx="20002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1280 × 800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9E49F2-DCF8-4766-B6E2-794A11E3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624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7CF2B5"/>
                </a:solidFill>
                <a:latin typeface="Leelawadee UI"/>
                <a:ea typeface="Leelawadee UI"/>
                <a:cs typeface="Leelawadee UI"/>
              </a:defRPr>
            </a:pPr>
            <a: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0E7BA-2FF2-4E95-BE4F-B868117F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53000"/>
            <a:ext cx="2714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9D7FF"/>
                </a:solidFill>
                <a:latin typeface="Leelawadee UI"/>
                <a:ea typeface="Leelawadee UI"/>
                <a:cs typeface="Leelawadee UI"/>
              </a:defRPr>
            </a:pPr>
            <a:r>
              <a:t>รวม text scale 1.5×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D8DDFC-2218-45B7-8CC5-E69C19C2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12014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BAE7C6-2643-499A-A3F7-A97B03B8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7442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ผล: เปลี่ยน orientation หรือขนาดจอแล้ว UI ไม่พัง และยัง scroll ถึงข้อมูลท้ายหน้า</a:t>
            </a:r>
          </a:p>
        </p:txBody>
      </p:sp>
    </p:spTree>
    <p:extLst>
      <p:ext uri="{BB962C8B-B14F-4D97-AF65-F5344CB8AC3E}">
        <p14:creationId xmlns:p14="http://schemas.microsoft.com/office/powerpoint/2010/main" val="7212202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26A46-AC6F-44E8-9512-90F9AE13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C8A9E-9DAD-4B9D-BEB0-0CA928B1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B1BFC-9A30-4D7B-AC90-0C802BF9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833CD-C1A4-4F7E-97B0-8CE9565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RUBRIC 3 · CODE CLEANLINESS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DCF0B-3449-4A38-8002-B6A6F0E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4EA6D-4B72-408D-A1EE-13AB1390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โครงสร้างอ่านจากซ้ายไปขวา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D17BD-DA19-4695-989E-AE483E2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Page รับผิดชอบการแสดงผล ส่วน Bloc และ Repository แยก state กับข้อมูลออกจาก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AA4A9-4333-4135-8107-6FC52BAB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56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AACD2-9A9A-4E10-93B7-2A7A93C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71750"/>
            <a:ext cx="4286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BCCFC-F3D0-42DB-85D1-6B15E3CA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0375"/>
            <a:ext cx="186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F1A2F-B2B7-4119-8058-BD78FFB7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76625"/>
            <a:ext cx="18669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แสดงผล + ส่ง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FE7A0-A65E-4360-878F-9237A75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52750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74B1C-86ED-4403-B24F-0378A2C7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C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728D6-6EBF-453C-8024-5CA6FAC3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71750"/>
            <a:ext cx="4286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6CCB"/>
                </a:solidFill>
                <a:latin typeface="Leelawadee UI"/>
                <a:ea typeface="Leelawadee UI"/>
                <a:cs typeface="Leelawadee UI"/>
              </a:defRPr>
            </a:pPr>
            <a: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EA737D-EC8C-4002-B269-89CDEE1C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000375"/>
            <a:ext cx="186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Bloc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2B99-4C01-4BBB-AD08-B62B0366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76625"/>
            <a:ext cx="18669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แปลง event →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480DA-962D-4AFC-AC04-A667143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952750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EB54E-1AA8-470C-8899-D3986EAF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3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78CAD-1445-49C9-A346-83E3D203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571750"/>
            <a:ext cx="4286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C9"/>
                </a:solidFill>
                <a:latin typeface="Leelawadee UI"/>
                <a:ea typeface="Leelawadee UI"/>
                <a:cs typeface="Leelawadee UI"/>
              </a:defRPr>
            </a:pPr>
            <a: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5C472-CFB3-4A1D-A28D-06201408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00375"/>
            <a:ext cx="186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Repository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D22AE-7B0D-4D5C-AE03-E76D635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476625"/>
            <a:ext cx="18669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แหล่งข้อมูล / mock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01345-4F6D-4285-AF41-91CBDA9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52750"/>
            <a:ext cx="476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07E2CA-B760-48FC-8315-D25FF338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381250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B8F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89F13-9B78-4EAC-9C90-F19FE250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571750"/>
            <a:ext cx="428625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0B8F4"/>
                </a:solidFill>
                <a:latin typeface="Leelawadee UI"/>
                <a:ea typeface="Leelawadee UI"/>
                <a:cs typeface="Leelawadee UI"/>
              </a:defRPr>
            </a:pPr>
            <a: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6A63F-EB3D-4704-BE92-9F176488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000375"/>
            <a:ext cx="1866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243C6E-6AA1-4FCB-BFD3-25A77472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76625"/>
            <a:ext cx="18669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ข้อมูลชนิดชัดเจน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89F776-3A0B-460E-B5C1-34D937DA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95825"/>
            <a:ext cx="1085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57F4C8-657D-42E2-9514-9DE0AF5D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33950"/>
            <a:ext cx="95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Naming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FD03D3-CFE6-4528-9CEF-E03307A4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10175"/>
            <a:ext cx="23812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screens → pages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E1A258-AC18-447A-B52A-FE30C29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339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Reusable UI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245C48-D7C2-4ED7-B689-E512C82D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10175"/>
            <a:ext cx="3381375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ErrorState · LoadingIndicator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90508C-58AB-4830-8564-830A4002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1333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State identity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2B9319-50F5-4178-8C50-B7A01200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10175"/>
            <a:ext cx="333375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selectedPlaceId ไม่ผูกกับ index</a:t>
            </a:r>
          </a:p>
        </p:txBody>
      </p:sp>
    </p:spTree>
    <p:extLst>
      <p:ext uri="{BB962C8B-B14F-4D97-AF65-F5344CB8AC3E}">
        <p14:creationId xmlns:p14="http://schemas.microsoft.com/office/powerpoint/2010/main" val="483151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E1597-0162-40EA-8263-ECAEBA7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A2C93-4763-4F24-AB59-94BE43EF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FB559-E030-42DB-9109-FCFF0634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5CD39-66E5-4662-A830-9F8EF11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RUBRIC 4 · STATE-DRIVEN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21A07-996C-4FF1-80DC-3DFF54C5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3CE7B-DA7B-4AA5-A3BB-328C24F3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ทุก async action มีคำตอบให้ผู้ใช้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157DE-2F4B-48AE-BDA7-98B589F4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Loading, Success และ Error ถูกขับด้วย state — side effect แสดงใน listener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77f9b2ad24cf5"/>
          <a:stretch xmlns:a="http://schemas.openxmlformats.org/drawingml/2006/main"/>
        </p:blipFill>
        <p:spPr>
          <a:xfrm xmlns:a="http://schemas.openxmlformats.org/drawingml/2006/main">
            <a:off x="1001897" y="1809750"/>
            <a:ext cx="1958606" cy="4238625"/>
          </a:xfrm>
          <a:prstGeom xmlns:a="http://schemas.openxmlformats.org/drawingml/2006/main" prst="roundRect">
            <a:avLst/>
          </a:prstGeom>
        </p:spPr>
      </p:pic>
      <p:cxnSp>
        <p:nvCxnSpPr>
          <p:cNvPr id="57" name=""/>
          <p:cNvCxnSpPr/>
          <p:nvPr/>
        </p:nvCxnSpPr>
        <p:spPr>
          <a:xfrm xmlns:a="http://schemas.openxmlformats.org/drawingml/2006/main">
            <a:off x="4095750" y="3171825"/>
            <a:ext cx="6667500" cy="9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E2F0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7170B-E2B1-4F48-B502-65E7916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0693F-FB40-4D5D-AF42-65580DCF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67025"/>
            <a:ext cx="628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29F6B-3C39-4873-8ACF-5F7F67F3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05225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Loading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E539D-C9A6-4B7D-BC90-73844384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05275"/>
            <a:ext cx="16668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กำลังโหลด / ปิดปุ่มซ้ำ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6F5D4B-A407-4968-B3D2-5E9290D1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C6B6AF-897F-4E3E-824C-38EE3503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67025"/>
            <a:ext cx="628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885E4-FDDE-4E67-B9F0-BCCBCCBB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4F6A6-D269-4C7C-A8D4-0C89A96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05275"/>
            <a:ext cx="16668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แสดงข้อมูล +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ABF25-1154-4325-974F-B284BBD7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2D20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4983FC-230E-41C2-8BDC-27DDBC30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67025"/>
            <a:ext cx="628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2753A0-CF31-4FC4-A0F3-E23812F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05225"/>
            <a:ext cx="116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Error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55525-7D4D-4A06-91F2-98C5F6D2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05275"/>
            <a:ext cx="166687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ข้อความเป็นมิตร + Retry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2045D6-5E98-4B20-BB14-242F8ADA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29200"/>
            <a:ext cx="67056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3BF4D-D395-4AF7-A0DC-877A85A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01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BlocBuilder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471A5-B8CF-40F8-A2F5-E699B7CD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467350"/>
            <a:ext cx="171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วาด UI จาก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2AF2C-80AA-49F5-808C-1E917104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0175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BlocListener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F63AF-1E72-4AB3-86D0-AE0A0F5B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67350"/>
            <a:ext cx="195262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SnackBar / Navigation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EE713-A0AC-47D5-897B-52DFD07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210175"/>
            <a:ext cx="666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9699F6-7B4B-4212-81B1-77F9B0E9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673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ส่ง event ใหม่</a:t>
            </a:r>
          </a:p>
        </p:txBody>
      </p:sp>
    </p:spTree>
    <p:extLst>
      <p:ext uri="{BB962C8B-B14F-4D97-AF65-F5344CB8AC3E}">
        <p14:creationId xmlns:p14="http://schemas.microsoft.com/office/powerpoint/2010/main" val="11280614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176C4-D013-49E1-88D1-019D129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873EA-1969-42A6-BAF4-B8E94B96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479E8-3CB8-454C-BF8E-1743FDD7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AACE7-31E4-4B16-87D7-2F428530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CASE STUDY · COMMUNITY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2AB88-FE34-4816-A895-21099222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E1BAF-2F73-4C21-991E-00F47B40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Community แสดงทั้ง UI, state และ edge case ในหน้าเดียว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B74E6-D9B4-4E15-9BA3-D731F530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จากค้นหาและ sort → เลือกสถานที่ → โพสต์ → moderation feedback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c5404882d4f80"/>
          <a:stretch xmlns:a="http://schemas.openxmlformats.org/drawingml/2006/main"/>
        </p:blipFill>
        <p:spPr>
          <a:xfrm xmlns:a="http://schemas.openxmlformats.org/drawingml/2006/main">
            <a:off x="732567" y="1733550"/>
            <a:ext cx="2068640" cy="4476750"/>
          </a:xfrm>
          <a:prstGeom xmlns:a="http://schemas.openxmlformats.org/drawingml/2006/main" prst="round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85b0b4cea4157"/>
          <a:stretch xmlns:a="http://schemas.openxmlformats.org/drawingml/2006/main"/>
        </p:blipFill>
        <p:spPr>
          <a:xfrm xmlns:a="http://schemas.openxmlformats.org/drawingml/2006/main">
            <a:off x="3513867" y="1733550"/>
            <a:ext cx="2068640" cy="447675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353ED-DC0A-4040-855B-CD3702D8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372100" cy="38862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2BD2E-538F-43AF-82F7-522B8FBE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764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จุดที่ทำให้ prototype “ไม่หลอกตา”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09AF7-187D-4CEC-B14D-D2FF3355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F0003-3B5A-4C99-9073-A8CE85EC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717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Identity-safe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81987-0C9A-41ED-9E1C-ED6BEE22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เลือกด้วย place id แม้รายการถูก sort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2A8DF-E709-4D96-87E2-48A975BA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050AE-C99A-41A0-B82B-B67743B2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09925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Draft-aware posting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A6D96-267E-4A70-B0D3-20DB2D8B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76625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กำลังโพสต์แล้วปิดการส่งซ้ำ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1485E-775B-4D1F-B437-F8E7EBF5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22F0A-F2CE-4E0E-BA91-200929EB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Friendly 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68F0E3-BD75-4A95-B700-02E8252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14800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error แสดงครั้งเดียวและ retry ได้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A8E9F-588D-4EC4-B969-B7B404A0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43425"/>
            <a:ext cx="361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AC7D3D-D1AA-4889-B4A3-8B7C7DE9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86275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Moderation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E013BC-CDBE-4A37-83D6-84D2F36F8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52975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โพสต์ที่ซ่อนมีเหตุผลให้ผู้ใช้เห็น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5CAF59-8416-4C8F-8811-38C2EDCB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86450"/>
            <a:ext cx="53721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ACE70B-0B2D-484A-8B66-75DDAD61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43600"/>
            <a:ext cx="500062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หนึ่ง feature ครอบคลุม rubric ทั้ง 4 หมวด</a:t>
            </a:r>
          </a:p>
        </p:txBody>
      </p:sp>
    </p:spTree>
    <p:extLst>
      <p:ext uri="{BB962C8B-B14F-4D97-AF65-F5344CB8AC3E}">
        <p14:creationId xmlns:p14="http://schemas.microsoft.com/office/powerpoint/2010/main" val="9214571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B40EB3-EC4B-4F36-A762-5848AA87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2C797-AEC4-4EAF-A5C7-EE69DE15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28415-CE4B-468D-AB92-1BECD09A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312EC-33B3-4C94-BC0B-EAC69EA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VERIFICATION · FRESH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DA68D6-D867-453A-BDD5-2D3DC7FE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E915AE-19E6-4D6D-B6D7-84FAE672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หลักฐานล่าสุด: ผ่านทุก gate ที่ใช้ตรวจคะแนน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225486-76D7-4123-B426-F1FD7A93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รันใหม่จาก working tree ปัจจุบันก่อนสร้างสไลด์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AE10B-2239-4A71-9D9E-BD9793A6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0"/>
            <a:ext cx="2514600" cy="2571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486DA2-D4D6-41DF-8BCC-764CDCA0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2057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20 / 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EFECD-451B-4FE0-BE01-6301AE8B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205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9D7FF"/>
                </a:solidFill>
                <a:latin typeface="Leelawadee UI"/>
                <a:ea typeface="Leelawadee UI"/>
                <a:cs typeface="Leelawadee UI"/>
              </a:defRPr>
            </a:pPr>
            <a:r>
              <a:t>tests passed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10756E-E679-458D-9DB0-2F924B21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057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DEBFF"/>
                </a:solidFill>
                <a:latin typeface="Leelawadee UI"/>
                <a:ea typeface="Leelawadee UI"/>
                <a:cs typeface="Leelawadee UI"/>
              </a:defRPr>
            </a:pPr>
            <a:r>
              <a:t>Bloc · Page · Responsive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342A8-5BAD-4DFF-8F5C-B51BC6AD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2514600" cy="2571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09F2E-7768-4EE6-B1F3-8A55FDD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33650"/>
            <a:ext cx="2057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CC89A6-17FB-4EE2-96FB-8ECB9501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24250"/>
            <a:ext cx="205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analyzer issues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D39DB-AA63-416E-8203-6AA33639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81450"/>
            <a:ext cx="2057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flutter analyze --no-pub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5C344-8C78-4C22-9680-0D6CFA24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514600" cy="2571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E538C-9E35-40F7-85D7-F1F47009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4A5D61-FC5E-4634-BD5C-E588A4A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205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viewports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E189A-4902-4385-A2F7-3DD23D6F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81450"/>
            <a:ext cx="2057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360×640 ถึง 1280×800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73CA4-1D60-4D66-AE25-E073567E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514600" cy="25717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33CCF-A434-44B4-A303-9ABC4F2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0574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1.5×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57A9E-F363-4405-842F-98BAA5E8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2057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text 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E506A-18C3-4C7E-B480-6E683BF8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0574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ยังไม่เกิด overflow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6AA57E-90D1-4CBE-AFC6-0EC2FCA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10858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FDB50-59AB-4B3B-B049-29697CC5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2238375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Architecture naming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E7B8E1-5BFC-46A8-879A-1C743B53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57800"/>
            <a:ext cx="809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ยืนยันว่าไฟล์ presentation ใช้ Page naming และไม่มี screens หลงเหลือ</a:t>
            </a:r>
          </a:p>
        </p:txBody>
      </p:sp>
    </p:spTree>
    <p:extLst>
      <p:ext uri="{BB962C8B-B14F-4D97-AF65-F5344CB8AC3E}">
        <p14:creationId xmlns:p14="http://schemas.microsoft.com/office/powerpoint/2010/main" val="123949682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EC2AB-353C-493E-A794-61806AE5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E7926-9D6D-415C-A16C-AF5D1AAE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376E7-487E-43AE-BF1F-D874F100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DAF5A-FA59-4EE6-863E-7E0BBBD3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666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LIVE DEMO · 3 นาที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C9AFB-A0E0-4529-AF71-C1C5B1E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29E38-0DD5-411B-A300-D490280B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ต่อไป: พิสูจน์ด้วยการใช้งานจริง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95FC7-DC97-47C0-80F7-93E5F31E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เส้นทางสั้น ครบทุกจุดที่ rubric ต้องเห็น</a:t>
            </a:r>
          </a:p>
        </p:txBody>
      </p:sp>
      <p:cxnSp>
        <p:nvCxnSpPr>
          <p:cNvPr id="65" name=""/>
          <p:cNvCxnSpPr/>
          <p:nvPr/>
        </p:nvCxnSpPr>
        <p:spPr>
          <a:xfrm xmlns:a="http://schemas.openxmlformats.org/drawingml/2006/main">
            <a:off x="876300" y="3209925"/>
            <a:ext cx="9906000" cy="9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56A6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EFCE4D-3C67-4835-9D50-7CF697ED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1F0D22-AB67-42BE-AD4D-A342E30D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2FA66-D715-470B-A5CA-58A5C55B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0:00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399BC-5187-4F54-9C31-FAEC9371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Login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731C3-D875-4EC5-AF69-FBBFD595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สถานะปุ่ม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AA180-07AD-40A2-BDA2-4CC1DA07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ED9E1-A4AE-44F1-92BC-0E3ADC64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70CEFA-0F67-4DC7-BEF9-F45A62E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0:25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9782E3-00CA-43D4-B9FA-C44C5BB0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Map → Indoor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B651B-B8F8-4CE4-A7F1-C9F65D14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responsive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7BC61-88B5-4110-A95E-90F19483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2DC54-034D-4F57-BCB3-189FCF24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AD808-FAF0-4452-9E11-A35F28C8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1:00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5554C-FA12-4A4D-9EE0-F932AC8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Shuttle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B7F1C1-575A-4015-8F41-555569A4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loading + alert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F09FA-700D-4636-96E9-27F1ABD9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15F63D-8B45-4D50-87AC-54BAA913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507E5-C85D-4BD4-843B-DC19D533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1:30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F0C6CE-5DFF-4CC0-9080-5E7B99BF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Community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97227-3A2C-4622-8F56-D8C6B1BD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sort + detail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E5ADFB-1EBE-4A36-A47F-1C5A90C7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A7756-153D-4A7D-A81B-CF999F2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92546-DF0F-40DF-8A04-9B56CA2E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2:20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3A34C-9769-4623-9677-E5A4EE9C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Post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A29C0F-A9FD-4A42-AB66-EBE0CE2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feedback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C5D36B-1796-4237-97AA-CC026583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432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630CBB-A3E7-4249-88D7-5BC1559B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53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FC18FC-64C4-4EE2-8D63-778BA048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57450"/>
            <a:ext cx="895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2:45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6D2FC7-C3E3-41C0-BEE9-69121F14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43325"/>
            <a:ext cx="14478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Resize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AAA96F-BA40-456F-A699-CF4234A9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086225"/>
            <a:ext cx="144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no overflow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348592-7B86-4B73-93AE-E507E1AAE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C385AD-2AEA-4AD1-9727-E2C94C50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53025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FD7FF"/>
                </a:solidFill>
                <a:latin typeface="Leelawadee UI"/>
                <a:ea typeface="Leelawadee UI"/>
                <a:cs typeface="Leelawadee UI"/>
              </a:defRPr>
            </a:pPr>
            <a:r>
              <a:t>เกณฑ์สังเกตระหว่าง demo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D1D9EC-EF38-4557-AFB4-CD10B5A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defRPr>
            </a:pPr>
            <a:r>
              <a:t>สถานะชัด · กดซ้ำไม่ได้ · เปลี่ยนหน้าได้ · ขยายจอแล้วไม่พัง</a:t>
            </a:r>
          </a:p>
        </p:txBody>
      </p:sp>
    </p:spTree>
    <p:extLst>
      <p:ext uri="{BB962C8B-B14F-4D97-AF65-F5344CB8AC3E}">
        <p14:creationId xmlns:p14="http://schemas.microsoft.com/office/powerpoint/2010/main" val="26257097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58186-5F5E-47E9-9F50-D21C0D77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43A57-5774-432D-B687-45E683D0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C1316-8187-4D61-8319-785E31ED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4E478-4EAC-4EE5-8024-844591A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APPENDIX · FILE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BC94A-5690-40B6-8A8C-94A11EE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FF6B8A-ABCC-40F5-BF78-3494B398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เปิดดูไฟล์จริง: แยกหน้าจอและ logic เป็นชั้น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A5228-40C1-4231-8FDF-5C30B597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หลักฐานที่อาจารย์กดตามจาก repo ได้ทันที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A457A-D6FA-4C55-B110-329D6A9F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48577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170D8-4FB4-44AC-A8B5-7CDCF04B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FD7FF"/>
                </a:solidFill>
                <a:latin typeface="Cascadia Mono"/>
                <a:ea typeface="Cascadia Mono"/>
                <a:cs typeface="Cascadia Mono"/>
              </a:defRPr>
            </a:pPr>
            <a:r>
              <a:t>psu_nav/lib/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28984-55F3-4A5B-BF67-7FD58592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├─ pages/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1044B-34D5-4868-991E-85B908D7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├─ map_page.dart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455D1-D2CE-41A4-B074-660E4C38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├─ indoor_page.dart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B05B2-37C4-43C7-92B6-23B8C5C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├─ shuttle_page.dart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0601C-0734-422B-B8B2-2793ED97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├─ events_page.dart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C1615-51EA-4FF2-9EEA-E455DD0F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└─ community_page.dart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E147C9-44CA-4CA4-9B7F-573614CA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├─ bloc/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CA98B-9203-4338-8765-A448A781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52975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├─ community_bloc.dart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3E962-0437-44C3-AB1E-FA9583D6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│  └─ community_state.dart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DA4E5-A0D7-42A0-AC7A-1D052D9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Cascadia Mono"/>
                <a:ea typeface="Cascadia Mono"/>
                <a:cs typeface="Cascadia Mono"/>
              </a:defRPr>
            </a:pPr>
            <a:r>
              <a:t>└─ widgets/common/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C00491-BE8A-4680-A370-323BB9C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4000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EBFF"/>
                </a:solidFill>
                <a:latin typeface="Cascadia Mono"/>
                <a:ea typeface="Cascadia Mono"/>
                <a:cs typeface="Cascadia Mono"/>
              </a:defRPr>
            </a:pPr>
            <a:r>
              <a:t>   ├─ error_state.dart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FBA7E-2CC3-40F9-9707-7DD11635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85950"/>
            <a:ext cx="5715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B85295-08C6-42E4-B3E1-EBE8633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62175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หลักฐานจากโครงสร้าง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1F340-FFDF-47E3-A657-DF8C83D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241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B5303-9DEE-4CF2-BA85-4C84D938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24150"/>
            <a:ext cx="309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Cascadia Mono"/>
                <a:ea typeface="Cascadia Mono"/>
                <a:cs typeface="Cascadia Mono"/>
              </a:defRPr>
            </a:pPr>
            <a:r>
              <a:t>lib/pages/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3A5454-36B5-40CF-A884-1F97D5F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6232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9E30D1-42B3-44C5-AFB0-537654D8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62325"/>
            <a:ext cx="309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Cascadia Mono"/>
                <a:ea typeface="Cascadia Mono"/>
                <a:cs typeface="Cascadia Mono"/>
              </a:defRPr>
            </a:pPr>
            <a:r>
              <a:t>lib/bloc/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3D139-D861-4EF4-A94F-2A2BFC69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Reusable 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AD31F8-07B5-4B8C-8097-0251587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00500"/>
            <a:ext cx="309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Cascadia Mono"/>
                <a:ea typeface="Cascadia Mono"/>
                <a:cs typeface="Cascadia Mono"/>
              </a:defRPr>
            </a:pPr>
            <a:r>
              <a:t>lib/widgets/common/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65C50-B699-4BF8-9E16-6176D32C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38675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EFAA3-A718-4DE9-8A0E-77ECD13A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38675"/>
            <a:ext cx="3095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296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Cascadia Mono"/>
                <a:ea typeface="Cascadia Mono"/>
                <a:cs typeface="Cascadia Mono"/>
              </a:defRPr>
            </a:pPr>
            <a:r>
              <a:t>test/pages + test/bloc + test/responsive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1BE4A-C006-4B92-8882-3C7222D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67300"/>
            <a:ext cx="493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7F8EE-F6F8-4284-9E29-E2B9BEE4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44767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screens → pages  |  ชื่อสื่อความหมาย</a:t>
            </a:r>
          </a:p>
        </p:txBody>
      </p:sp>
    </p:spTree>
    <p:extLst>
      <p:ext uri="{BB962C8B-B14F-4D97-AF65-F5344CB8AC3E}">
        <p14:creationId xmlns:p14="http://schemas.microsoft.com/office/powerpoint/2010/main" val="4935197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79200-628A-41FC-91CF-EDD5612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5626-1FA6-47A5-9932-8F27EEA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BD1F8-30E8-4BE4-BC01-A839CB6F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F8BD77-047E-4451-B891-DD734887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APPENDIX · CODE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916109-F873-49A5-82E9-D2CC20AF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290BA-5A41-4F13-8A29-CEA91B2D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ตัวอย่างโค้ดที่ทำให้ UX ปลอดภัยขึ้น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14C52-A443-4F68-96DF-F858234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คัดจากไฟล์จริง: state identity, retry และการกันกดซ้ำ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D4703-8375-46F9-8108-E7ED9921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410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FE6A3-992A-4B9E-B73A-7D58689A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FD7FF"/>
                </a:solidFill>
                <a:latin typeface="Cascadia Mono"/>
                <a:ea typeface="Cascadia Mono"/>
                <a:cs typeface="Cascadia Mono"/>
              </a:defRPr>
            </a:pPr>
            <a:r>
              <a:t>lib/bloc/community/community_state.dart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D0FC-4337-41FE-8433-D434084F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4667250" cy="276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8FF"/>
                </a:solidFill>
                <a:latin typeface="Cascadia Mono"/>
                <a:ea typeface="Cascadia Mono"/>
                <a:cs typeface="Cascadia Mono"/>
              </a:defRPr>
            </a:pPr>
            <a:r>
              <a:t>final String? selectedPlaceId;
PlaceDiscussion? get selectedPlace {
  final id = selectedPlaceId;
  if (id == null) return null;
  for (final place in allPlaces) {
    if (place.id == id) return place;
  }
  return null;
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F23B84-0B08-4EB7-98F0-0A63D66F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47850"/>
            <a:ext cx="52768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A2D45-98D1-4FEB-B389-7BF02A42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4686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56A6"/>
                </a:solidFill>
                <a:latin typeface="Cascadia Mono"/>
                <a:ea typeface="Cascadia Mono"/>
                <a:cs typeface="Cascadia Mono"/>
              </a:defRPr>
            </a:pPr>
            <a:r>
              <a:t>lib/bloc/community/community_bloc.dart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56A7C5-C019-4EC7-968D-7DCFB8C1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71750"/>
            <a:ext cx="4610100" cy="290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844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Cascadia Mono"/>
                <a:ea typeface="Cascadia Mono"/>
                <a:cs typeface="Cascadia Mono"/>
              </a:defRPr>
            </a:pPr>
            <a:r>
              <a:t>if (state.posting) return;
emit(state.copyWith(
  posting: true, clearError: true,
));
try {
  await repo.postComment(...);
  emit(state.copyWith(
    posting: false,
    toastMessage: 'ส่งคอมเมนต์สำเร็จ',
  ));
} catch (_) {
  emit(state.copyWith(
    posting: false,
    errorMessage: 'ส่งคอมเมนต์ไม่สำเร็จ กรุณาลองใหม่',
  ));
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B4573-DD24-4F07-99EF-300BF41E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34100"/>
            <a:ext cx="10991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155C8-D731-4A6C-A46C-26DFAF5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10572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ผลที่เห็นใน UI: เลือกสถานที่ไม่ผิดหลัง sort · ปุ่มส่งไม่ยิงซ้ำ · error กด retry ได้</a:t>
            </a:r>
          </a:p>
        </p:txBody>
      </p:sp>
    </p:spTree>
    <p:extLst>
      <p:ext uri="{BB962C8B-B14F-4D97-AF65-F5344CB8AC3E}">
        <p14:creationId xmlns:p14="http://schemas.microsoft.com/office/powerpoint/2010/main" val="97382714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C59B15-6086-4C7C-A701-9BAF7CBDF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4AA7F-769E-4908-BF55-BF50E748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6A6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A40C6-7FB8-4C30-AEA3-CF8BE7DF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F4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71F2E-F6DC-4313-982A-695AA391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"/>
            <a:ext cx="7620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APPENDIX · TEST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E5414-4D93-4E80-B1EF-06B3A323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72225"/>
            <a:ext cx="5238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8A2B3"/>
                </a:solidFill>
                <a:latin typeface="Leelawadee UI"/>
                <a:ea typeface="Leelawadee UI"/>
                <a:cs typeface="Leelawadee U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1C1D9-D734-46FA-9CB8-B6EBD4DE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ไฟล์ test รองรับคะแนน ไม่ใช่แค่คำกล่าวอ้าง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4F534-D9F8-4893-A96A-C3524EBE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04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Leelawadee UI"/>
                <a:ea typeface="Leelawadee UI"/>
                <a:cs typeface="Leelawadee UI"/>
              </a:defRPr>
            </a:pPr>
            <a:r>
              <a:t>แต่ละ rubric มี test หรือ command ที่ตรวจซ้ำได้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DCDDA-EBC3-4EF4-8B56-4D45458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109347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A5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9056D-1F21-49E9-931A-9552E03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24075"/>
            <a:ext cx="3905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FD7FF"/>
                </a:solidFill>
                <a:latin typeface="Cascadia Mono"/>
                <a:ea typeface="Cascadia Mono"/>
                <a:cs typeface="Cascadia Mono"/>
              </a:defRPr>
            </a:pPr>
            <a:r>
              <a:t>flutter analyze --no-pub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CEE2D-4EFB-42A6-BD33-ED5EF1B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342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7CF2B5"/>
                </a:solidFill>
                <a:latin typeface="Cascadia Mono"/>
                <a:ea typeface="Cascadia Mono"/>
                <a:cs typeface="Cascadia Mono"/>
              </a:defRPr>
            </a:pPr>
            <a:r>
              <a:t>No issues found!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773CF-810C-485C-BFBB-BD028B3B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90850"/>
            <a:ext cx="109347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DF3C6E-E40A-4977-90AA-CD112AAF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766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Cascadia Mono"/>
                <a:ea typeface="Cascadia Mono"/>
                <a:cs typeface="Cascadia Mono"/>
              </a:defRPr>
            </a:pPr>
            <a:r>
              <a:t>test/architecture/page_naming_test.dart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3421B-4396-4681-9023-F39659B3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ยืนยัน pages naming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2ECEB-D6EF-44C3-92D6-59C28713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Cascadia Mono"/>
                <a:ea typeface="Cascadia Mono"/>
                <a:cs typeface="Cascadia Mono"/>
              </a:defRPr>
            </a:pPr>
            <a:r>
              <a:t>test/bloc/community_bloc_test.dart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36430-F935-4571-B59C-D23272F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selected identity · error · posting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800622-2B9B-471C-AFD4-0EED619F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Cascadia Mono"/>
                <a:ea typeface="Cascadia Mono"/>
                <a:cs typeface="Cascadia Mono"/>
              </a:defRPr>
            </a:pPr>
            <a:r>
              <a:t>test/pages/async_pages_test.dart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16ABB-7AAE-4A94-A0D1-CA8958F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retry แล้ว recover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37DB4-06B0-4780-A8F5-F0D95EF0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495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56A6"/>
                </a:solidFill>
                <a:latin typeface="Cascadia Mono"/>
                <a:ea typeface="Cascadia Mono"/>
                <a:cs typeface="Cascadia Mono"/>
              </a:defRPr>
            </a:pPr>
            <a:r>
              <a:t>test/responsive/app_responsive_test.dart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2B10ED-B206-4EAB-9EA2-C6DB2EFB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05350"/>
            <a:ext cx="4857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Leelawadee UI"/>
                <a:ea typeface="Leelawadee UI"/>
                <a:cs typeface="Leelawadee UI"/>
              </a:defRPr>
            </a:pPr>
            <a:r>
              <a:t>360×640 · 412×915 · 800×1280 · 1280×800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535158-2B36-48F4-8324-5204CBCA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95950"/>
            <a:ext cx="10934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0A7D9-0DAD-483C-8019-C0CF8F5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47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56A6"/>
                </a:solidFill>
                <a:latin typeface="Leelawadee UI"/>
                <a:ea typeface="Leelawadee UI"/>
                <a:cs typeface="Leelawadee UI"/>
              </a:defRPr>
            </a:pPr>
            <a:r>
              <a:t>ผลรันล่าสุด: 20 / 20 tests passed  ·  0 analyzer issues  ·  ไม่พบ overflow ใน responsive suite</a:t>
            </a:r>
          </a:p>
        </p:txBody>
      </p:sp>
    </p:spTree>
    <p:extLst>
      <p:ext uri="{BB962C8B-B14F-4D97-AF65-F5344CB8AC3E}">
        <p14:creationId xmlns:p14="http://schemas.microsoft.com/office/powerpoint/2010/main" val="1865802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2026-07-15T19:09:00.8240000Z</dcterms:created>
  <dcterms:modified xsi:type="dcterms:W3CDTF">2026-07-15T19:09:00.8240000Z</dcterms:modified>
</coreProperties>
</file>